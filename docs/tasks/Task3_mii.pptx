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Shape 2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stationary map created from SLAM. </a:t>
            </a:r>
          </a:p>
          <a:p>
            <a:pPr/>
          </a:p>
          <a:p>
            <a:pPr/>
            <a:r>
              <a:t>At this stage it is only a saved ROS occupancy map file, not yet something my own planner can directly use. </a:t>
            </a:r>
          </a:p>
          <a:p>
            <a:pPr/>
          </a:p>
          <a:p>
            <a:pPr/>
            <a:r>
              <a:t>The important implementation step was to treat the SLAM map as fixed input: </a:t>
            </a:r>
          </a:p>
          <a:p>
            <a:pPr marL="279400" indent="-279400">
              <a:buSzPct val="123000"/>
              <a:buChar char="•"/>
            </a:pPr>
            <a:r>
              <a:t>I read arena_1p898x3p9_auto.yaml, </a:t>
            </a:r>
          </a:p>
          <a:p>
            <a:pPr marL="279400" indent="-279400">
              <a:buSzPct val="123000"/>
              <a:buChar char="•"/>
            </a:pPr>
            <a:r>
              <a:t>keep the saved map unchanged, and </a:t>
            </a:r>
          </a:p>
          <a:p>
            <a:pPr marL="279400" indent="-279400">
              <a:buSzPct val="123000"/>
              <a:buChar char="•"/>
            </a:pPr>
            <a:r>
              <a:t>build the planning representation from it.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Shape 2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planner cannot reason over the raw map image directly. </a:t>
            </a:r>
          </a:p>
          <a:p>
            <a:pPr/>
          </a:p>
          <a:p>
            <a:pPr/>
            <a:r>
              <a:t>I convert the PGM/YAML map into a trinary occupancy grid with free, occupied, and unknown cells. </a:t>
            </a:r>
          </a:p>
          <a:p>
            <a:pPr/>
          </a:p>
          <a:p>
            <a:pPr/>
            <a:r>
              <a:t>This step was important because A* needs a clear traversability decision for each cell. </a:t>
            </a:r>
          </a:p>
          <a:p>
            <a:pPr/>
          </a:p>
          <a:p>
            <a:pPr/>
            <a:r>
              <a:t>Unknown and occupied cells are treated as blocked, while only free cells can become part of the path.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1" name="Shape 2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cell that is free for a point robot is not necessarily safe for the TurtleBot. </a:t>
            </a:r>
          </a:p>
          <a:p>
            <a:pPr/>
          </a:p>
          <a:p>
            <a:pPr/>
            <a:r>
              <a:t>I therefore inflate walls and blocked cells by the robot clearance radius before planning. </a:t>
            </a:r>
          </a:p>
          <a:p>
            <a:pPr/>
          </a:p>
          <a:p>
            <a:pPr/>
            <a:r>
              <a:t>This changed the actual search space: some cells that looked free in the SLAM map became unsafe for navigation. </a:t>
            </a:r>
          </a:p>
          <a:p>
            <a:pPr/>
          </a:p>
          <a:p>
            <a:pPr/>
            <a:r>
              <a:t>The A* planner runs on this inflated mask, not on the raw map.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9" name="Shape 2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Before A* can expand anything, the continuous start and goal poses have to be converted into grid cells. </a:t>
            </a:r>
          </a:p>
          <a:p>
            <a:pPr/>
          </a:p>
          <a:p>
            <a:pPr/>
            <a:r>
              <a:t>If a pose lands inside an occupied, unknown, or inflated cell, I snap it to the nearest traversable cell.</a:t>
            </a:r>
          </a:p>
          <a:p>
            <a:pPr/>
          </a:p>
          <a:p>
            <a:pPr/>
            <a:r>
              <a:t>These snapped cells become the actual input for the offline A* search on the next slide.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7" name="Shape 2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the initial route, I used an offline A* planner on the saved occupancy map. </a:t>
            </a:r>
          </a:p>
          <a:p>
            <a:pPr/>
          </a:p>
          <a:p>
            <a:pPr/>
            <a:r>
              <a:t>This gave me full control over the occupancy conversion, wall inflation, start/goal snapping, and waypoint simplification. </a:t>
            </a:r>
          </a:p>
          <a:p>
            <a:pPr/>
          </a:p>
          <a:p>
            <a:pPr/>
            <a:r>
              <a:t>Later, the same planning idea is reused for replanning on the temporary run-local obstacle map.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Shape 2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After A* reaches the goal cell, the planner does not directly output waypoints. </a:t>
            </a:r>
          </a:p>
          <a:p>
            <a:pPr/>
          </a:p>
          <a:p>
            <a:pPr/>
            <a:r>
              <a:t>It first reconstructs the dense path by following the parent link of each expanded cell back to the start. </a:t>
            </a:r>
          </a:p>
          <a:p>
            <a:pPr/>
          </a:p>
          <a:p>
            <a:pPr/>
            <a:r>
              <a:t>I then reverse that sequence to get the final grid path from start to goal. </a:t>
            </a:r>
          </a:p>
          <a:p>
            <a:pPr/>
          </a:p>
          <a:p>
            <a:pPr/>
            <a:r>
              <a:t>This dense path is still too detailed for robot execution, so the next step is to simplify it into a smaller set of waypoints.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3" name="Shape 2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had to simplify the path into waypoints while keeping the route collision-free.</a:t>
            </a:r>
          </a:p>
          <a:p>
            <a:pPr/>
          </a:p>
          <a:p>
            <a:pPr/>
            <a:r>
              <a:t>The planned path only became usable after tuning the follower. </a:t>
            </a:r>
          </a:p>
          <a:p>
            <a:pPr/>
          </a:p>
          <a:p>
            <a:pPr/>
            <a:r>
              <a:t>Faster controller settings caused failures/timeouts; slower motion was reliable enough to complete the route.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4" name="Shape 2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A* planner only gives me waypoints, not robot motion. </a:t>
            </a:r>
          </a:p>
          <a:p>
            <a:pPr/>
          </a:p>
          <a:p>
            <a:pPr/>
            <a:r>
              <a:t>I implemented a custom waypoint follower that selects the next waypoint, computes the distance and heading error to it, and publishes bounded linear and angular velocity commands to /cmd_vel.</a:t>
            </a:r>
          </a:p>
          <a:p>
            <a:pPr/>
          </a:p>
          <a:p>
            <a:pPr/>
            <a:r>
              <a:t>While this control loop is running, the robot also receives raw LiDAR scans.</a:t>
            </a:r>
          </a:p>
          <a:p>
            <a:pPr/>
          </a:p>
          <a:p>
            <a:pPr/>
            <a:r>
              <a:t>That is the input for the obstacle detection step on the next slide.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2" name="Shape 2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Raw LiDAR contains wall hits, out-of-bounds points, and temporary objects.</a:t>
            </a:r>
          </a:p>
          <a:p>
            <a:pPr/>
          </a:p>
          <a:p>
            <a:pPr/>
            <a:r>
              <a:t>The hard part was deciding which scan points should become temporary obstacle cells.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0" name="Shape 2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 the previous slide, every LiDAR return was converted from polar scan data into a point in the robot base frame. </a:t>
            </a:r>
          </a:p>
          <a:p>
            <a:pPr/>
          </a:p>
          <a:p>
            <a:pPr/>
            <a:r>
              <a:t>But not every point should trigger replanning. </a:t>
            </a:r>
          </a:p>
          <a:p>
            <a:pPr/>
          </a:p>
          <a:p>
            <a:pPr/>
            <a:r>
              <a:t>A wall beside the robot or a point behind it is not an immediate obstacle for the planned motion. </a:t>
            </a:r>
          </a:p>
          <a:p>
            <a:pPr/>
          </a:p>
          <a:p>
            <a:pPr/>
            <a:r>
              <a:t>Therefore, I introduced a forward ROI: only points in front of the robot and inside a lateral corridor are passed to the obstacle update step.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Shape 2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ROI only tells me that a scan point is relevant for the robot’s forward motion. </a:t>
            </a:r>
          </a:p>
          <a:p>
            <a:pPr/>
          </a:p>
          <a:p>
            <a:pPr/>
            <a:r>
              <a:t>It does not yet tell me whether this point is a new temporary obstacle. </a:t>
            </a:r>
          </a:p>
          <a:p>
            <a:pPr/>
          </a:p>
          <a:p>
            <a:pPr/>
            <a:r>
              <a:t>Therefore, I transform each candidate into a map cell and compare it against the saved occupancy map. </a:t>
            </a:r>
          </a:p>
          <a:p>
            <a:pPr/>
          </a:p>
          <a:p>
            <a:pPr/>
            <a:r>
              <a:t>If the cell is free, I accept it as a temporary obstacle. </a:t>
            </a:r>
          </a:p>
          <a:p>
            <a:pPr/>
          </a:p>
          <a:p>
            <a:pPr/>
            <a:r>
              <a:t>If it is already a wall, unknown, or outside the map, I reject it so the LiDAR endpoints do not modify the arena walls.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7" name="Shape 2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After the accepted/rejected decision, I do not modify the original SLAM map. </a:t>
            </a:r>
          </a:p>
          <a:p>
            <a:pPr/>
          </a:p>
          <a:p>
            <a:pPr/>
            <a:r>
              <a:t>That was an important design decision, because the obstacle is temporary. </a:t>
            </a:r>
          </a:p>
          <a:p>
            <a:pPr/>
          </a:p>
          <a:p>
            <a:pPr/>
            <a:r>
              <a:t>Instead, I create a run-local overlay: the saved map stays unchanged, and only the accepted LiDAR obstacle cells are added to the temporary planning map. </a:t>
            </a:r>
          </a:p>
          <a:p>
            <a:pPr/>
          </a:p>
          <a:p>
            <a:pPr/>
            <a:r>
              <a:t>This is the map used for collision checking and replanning.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After adding the temporary overlay, I inflate the obstacle by the robot clearance radius. </a:t>
            </a:r>
          </a:p>
          <a:p>
            <a:pPr/>
          </a:p>
          <a:p>
            <a:pPr/>
            <a:r>
              <a:t>Then I check whether the path the robot is currently following intersects this inflated obstacle region. </a:t>
            </a:r>
          </a:p>
          <a:p>
            <a:pPr/>
          </a:p>
          <a:p>
            <a:pPr/>
            <a:r>
              <a:t>If the intersection is non-empty, the old path is no longer safe. </a:t>
            </a:r>
          </a:p>
          <a:p>
            <a:pPr/>
          </a:p>
          <a:p>
            <a:pPr/>
            <a:r>
              <a:t>That is the condition where the follower stops and triggers replanning.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5" name="Shape 3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Once the old path is blocked, I do not restart the whole task from the original start. </a:t>
            </a:r>
          </a:p>
          <a:p>
            <a:pPr/>
          </a:p>
          <a:p>
            <a:pPr/>
            <a:r>
              <a:t>I take the robot’s current pose as the new start, keep the original goal, and rerun A* on the temporary planning map. </a:t>
            </a:r>
          </a:p>
          <a:p>
            <a:pPr/>
          </a:p>
          <a:p>
            <a:pPr/>
            <a:r>
              <a:t>The resulting path is converted into new waypoints, and the follower resumes with this updated route.”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5" name="Shape 3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final frame validates the pipeline. </a:t>
            </a:r>
          </a:p>
          <a:p>
            <a:pPr/>
          </a:p>
          <a:p>
            <a:pPr/>
            <a:r>
              <a:t>The old route intersects the inflated temporary obstacle, so it is unsafe. </a:t>
            </a:r>
          </a:p>
          <a:p>
            <a:pPr/>
          </a:p>
          <a:p>
            <a:pPr/>
            <a:r>
              <a:t>After replanning, the new route no longer intersects the inflated overlay. </a:t>
            </a:r>
          </a:p>
          <a:p>
            <a:pPr/>
          </a:p>
          <a:p>
            <a:pPr/>
            <a:r>
              <a:t>That means the robot can continue toward the same goal while avoiding the temporary obstacle, without changing the saved SLAM map.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ephanus Park, 09.06.26 — Aufgabenblatt 3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3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4413156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6670596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7034031"/>
          </a:xfrm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quarter" idx="1" hasCustomPrompt="1"/>
          </p:nvPr>
        </p:nvSpPr>
        <p:spPr>
          <a:xfrm>
            <a:off x="1206500" y="4248504"/>
            <a:ext cx="9779000" cy="6670596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quarter" idx="1" hasCustomPrompt="1"/>
          </p:nvPr>
        </p:nvSpPr>
        <p:spPr>
          <a:xfrm>
            <a:off x="1206500" y="4248504"/>
            <a:ext cx="9779000" cy="6670596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1206500" y="4248504"/>
            <a:ext cx="9779000" cy="6670596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6670596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7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Stephanus Park, 09.06.26 — Aufgabenblatt 3"/>
          <p:cNvSpPr txBox="1"/>
          <p:nvPr/>
        </p:nvSpPr>
        <p:spPr>
          <a:xfrm>
            <a:off x="1201340" y="11859862"/>
            <a:ext cx="21971003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Stephanus Park, 09.06.26 — Aufgabenblatt 3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  <p:sp>
        <p:nvSpPr>
          <p:cNvPr id="5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tephanus Park, 09.06.26 — Aufgabenblatt 3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Stephanus Park, 09.06.26 — Aufgabenblatt 3</a:t>
            </a:r>
          </a:p>
        </p:txBody>
      </p:sp>
      <p:sp>
        <p:nvSpPr>
          <p:cNvPr id="173" name="Pitch — Aufgabenblatt 3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Pitch — Aufgabenblatt 3</a:t>
            </a:r>
          </a:p>
        </p:txBody>
      </p:sp>
      <p:sp>
        <p:nvSpPr>
          <p:cNvPr id="174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77" name="What I did to solve the task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I did to solve the tasks</a:t>
            </a:r>
          </a:p>
        </p:txBody>
      </p:sp>
      <p:sp>
        <p:nvSpPr>
          <p:cNvPr id="178" name="Goals and Scop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Goals and Scope</a:t>
            </a:r>
          </a:p>
          <a:p>
            <a:pPr/>
            <a:r>
              <a:t>Mapping / Planning</a:t>
            </a:r>
          </a:p>
          <a:p>
            <a:pPr/>
            <a:r>
              <a:t>Obstacle Detection</a:t>
            </a:r>
          </a:p>
          <a:p>
            <a:pPr lvl="1" marL="1308100" indent="-698500">
              <a:buSzPct val="123000"/>
              <a:buChar char="•"/>
            </a:pPr>
            <a:r>
              <a:t>Active Map Update</a:t>
            </a:r>
          </a:p>
          <a:p>
            <a:pPr lvl="1" marL="1308100" indent="-698500">
              <a:buSzPct val="123000"/>
              <a:buChar char="•"/>
            </a:pPr>
            <a:r>
              <a:t>Replanning</a:t>
            </a:r>
          </a:p>
          <a:p>
            <a:pPr/>
            <a:r>
              <a:t>Conclusion</a:t>
            </a:r>
          </a:p>
        </p:txBody>
      </p:sp>
      <p:sp>
        <p:nvSpPr>
          <p:cNvPr id="179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als and Scop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Goals and Scope</a:t>
            </a:r>
          </a:p>
        </p:txBody>
      </p:sp>
      <p:sp>
        <p:nvSpPr>
          <p:cNvPr id="182" name="Slide Number"/>
          <p:cNvSpPr txBox="1"/>
          <p:nvPr>
            <p:ph type="sldNum" sz="quarter" idx="2"/>
          </p:nvPr>
        </p:nvSpPr>
        <p:spPr>
          <a:xfrm>
            <a:off x="12065050" y="13085233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cop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Scope</a:t>
            </a:r>
          </a:p>
        </p:txBody>
      </p:sp>
      <p:sp>
        <p:nvSpPr>
          <p:cNvPr id="185" name="What goals did the task sheet deman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goals did the task sheet demand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7" name="Rounded Rectangle"/>
          <p:cNvSpPr/>
          <p:nvPr/>
        </p:nvSpPr>
        <p:spPr>
          <a:xfrm>
            <a:off x="1907364" y="4441384"/>
            <a:ext cx="9271001" cy="6284837"/>
          </a:xfrm>
          <a:prstGeom prst="roundRect">
            <a:avLst>
              <a:gd name="adj" fmla="val 15000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8" name="Rounded Rectangle"/>
          <p:cNvSpPr/>
          <p:nvPr/>
        </p:nvSpPr>
        <p:spPr>
          <a:xfrm>
            <a:off x="12971644" y="4441384"/>
            <a:ext cx="9271001" cy="6284837"/>
          </a:xfrm>
          <a:prstGeom prst="roundRect">
            <a:avLst>
              <a:gd name="adj" fmla="val 15000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9" name="Block A"/>
          <p:cNvSpPr txBox="1"/>
          <p:nvPr/>
        </p:nvSpPr>
        <p:spPr>
          <a:xfrm>
            <a:off x="5373210" y="4934949"/>
            <a:ext cx="2360067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Block A</a:t>
            </a:r>
          </a:p>
        </p:txBody>
      </p:sp>
      <p:sp>
        <p:nvSpPr>
          <p:cNvPr id="190" name="Block B"/>
          <p:cNvSpPr txBox="1"/>
          <p:nvPr/>
        </p:nvSpPr>
        <p:spPr>
          <a:xfrm>
            <a:off x="16427112" y="4934949"/>
            <a:ext cx="2360067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Block B</a:t>
            </a:r>
          </a:p>
        </p:txBody>
      </p:sp>
      <p:sp>
        <p:nvSpPr>
          <p:cNvPr id="191" name="Arena mapping…"/>
          <p:cNvSpPr txBox="1"/>
          <p:nvPr/>
        </p:nvSpPr>
        <p:spPr>
          <a:xfrm>
            <a:off x="2543213" y="6617598"/>
            <a:ext cx="4258972" cy="203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Arena mapping</a:t>
            </a:r>
          </a:p>
          <a:p>
            <a:pPr/>
            <a:r>
              <a:t>Path planning</a:t>
            </a:r>
          </a:p>
        </p:txBody>
      </p:sp>
      <p:sp>
        <p:nvSpPr>
          <p:cNvPr id="192" name="Line"/>
          <p:cNvSpPr/>
          <p:nvPr/>
        </p:nvSpPr>
        <p:spPr>
          <a:xfrm>
            <a:off x="2567465" y="6186532"/>
            <a:ext cx="795079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3" name="Line"/>
          <p:cNvSpPr/>
          <p:nvPr/>
        </p:nvSpPr>
        <p:spPr>
          <a:xfrm>
            <a:off x="13644666" y="6186532"/>
            <a:ext cx="792495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4" name="LiDAR obstacle integration…"/>
          <p:cNvSpPr txBox="1"/>
          <p:nvPr/>
        </p:nvSpPr>
        <p:spPr>
          <a:xfrm>
            <a:off x="13632705" y="6617599"/>
            <a:ext cx="7948881" cy="325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LiDAR obstacle integration</a:t>
            </a:r>
          </a:p>
          <a:p>
            <a:pPr/>
            <a:r>
              <a:t>Active map updating</a:t>
            </a:r>
          </a:p>
          <a:p>
            <a:pPr/>
            <a:r>
              <a:t>Collision-avoiding navigation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Block A: Mapping / Plan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Block A: Mapping / Planning</a:t>
            </a:r>
          </a:p>
        </p:txBody>
      </p:sp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12065050" y="13085233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Initial probl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 problem</a:t>
            </a:r>
          </a:p>
        </p:txBody>
      </p:sp>
      <p:sp>
        <p:nvSpPr>
          <p:cNvPr id="200" name="A map is not yet a planning map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 map is not yet a planning map</a:t>
            </a:r>
          </a:p>
        </p:txBody>
      </p:sp>
      <p:sp>
        <p:nvSpPr>
          <p:cNvPr id="201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2" name="001_slam_map.png" descr="001_slam_map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22821" y="3382389"/>
            <a:ext cx="14938358" cy="8402826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maps/aufgabe03/arena_1p898x3p9_auto.yaml"/>
          <p:cNvSpPr txBox="1"/>
          <p:nvPr/>
        </p:nvSpPr>
        <p:spPr>
          <a:xfrm>
            <a:off x="11037258" y="10903238"/>
            <a:ext cx="6449569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maps/aufgabe03/arena_1p898x3p9_auto.yaml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Occupancy mas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Occupancy mask</a:t>
            </a:r>
          </a:p>
        </p:txBody>
      </p:sp>
      <p:sp>
        <p:nvSpPr>
          <p:cNvPr id="208" name="Map is converted into a trinary occupancy gri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Map is converted into a trinary occupancy grid</a:t>
            </a:r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0" name="002_occupancy_mask.png" descr="002_occupancy_mask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PGM/YAML → grid cells…"/>
          <p:cNvSpPr txBox="1"/>
          <p:nvPr/>
        </p:nvSpPr>
        <p:spPr>
          <a:xfrm>
            <a:off x="1243079" y="5760278"/>
            <a:ext cx="5067605" cy="364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PGM/YAML → grid cells</a:t>
            </a:r>
          </a:p>
          <a:p>
            <a:pPr>
              <a:defRPr sz="3600"/>
            </a:pPr>
            <a:r>
              <a:t>Cell types: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Free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Occupied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Unknown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Inflated blocked mas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Inflated blocked mask</a:t>
            </a:r>
          </a:p>
        </p:txBody>
      </p:sp>
      <p:sp>
        <p:nvSpPr>
          <p:cNvPr id="216" name="Obstacles and walls are inflated by the robot clearance radiu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Obstacles and walls are inflated by the robot clearance radius</a:t>
            </a:r>
          </a:p>
        </p:txBody>
      </p:sp>
      <p:sp>
        <p:nvSpPr>
          <p:cNvPr id="217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8" name="003_inflated_clearance_mask.png" descr="003_inflated_clearance_mask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Text"/>
          <p:cNvSpPr txBox="1"/>
          <p:nvPr/>
        </p:nvSpPr>
        <p:spPr>
          <a:xfrm>
            <a:off x="1217438" y="6602555"/>
            <a:ext cx="4977104" cy="1169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r>
                    <m:rPr>
                      <m:nor/>
                    </m:rP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Resolution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0.05</m:t>
                  </m:r>
                  <m:f>
                    <m:fPr>
                      <m:ctrl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num>
                    <m:den>
                      <m:r>
                        <m:rPr>
                          <m:nor/>
                        </m:r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cell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Offline planner preprocess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Offline planner preprocessing</a:t>
            </a:r>
          </a:p>
        </p:txBody>
      </p:sp>
      <p:sp>
        <p:nvSpPr>
          <p:cNvPr id="224" name="Start and goal are snapped to traversable cells before A* start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Start and goal are snapped to traversable cells before A* starts</a:t>
            </a:r>
          </a:p>
        </p:txBody>
      </p:sp>
      <p:sp>
        <p:nvSpPr>
          <p:cNvPr id="225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26" name="004_start_goal_snap.png" descr="004_start_goal_snap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Req. pose → grid cell…"/>
          <p:cNvSpPr txBox="1"/>
          <p:nvPr/>
        </p:nvSpPr>
        <p:spPr>
          <a:xfrm>
            <a:off x="1268306" y="4962707"/>
            <a:ext cx="4833667" cy="5242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/>
            </a:pPr>
            <a:r>
              <a:t>Req. pose → grid cell</a:t>
            </a:r>
          </a:p>
          <a:p>
            <a:pPr>
              <a:defRPr sz="3600"/>
            </a:pPr>
            <a:r>
              <a:t>Reject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Wall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Inflated cells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Unknown cells</a:t>
            </a:r>
          </a:p>
          <a:p>
            <a:pPr>
              <a:spcBef>
                <a:spcPts val="4800"/>
              </a:spcBef>
              <a:defRPr sz="3600"/>
            </a:pPr>
            <a:r>
              <a:t>Use nearest safe free cell as A* input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Offline A* search expan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Offline A* search expansion</a:t>
            </a:r>
          </a:p>
        </p:txBody>
      </p:sp>
      <p:sp>
        <p:nvSpPr>
          <p:cNvPr id="232" name="Initial route is planned on the saved SLAM grid before executio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Initial route is planned on the saved SLAM grid before execution</a:t>
            </a:r>
          </a:p>
        </p:txBody>
      </p:sp>
      <p:sp>
        <p:nvSpPr>
          <p:cNvPr id="2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34" name="astar_search_animation.gif" descr="astar_search_animation.gif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8-neighbor motion…"/>
          <p:cNvSpPr txBox="1"/>
          <p:nvPr/>
        </p:nvSpPr>
        <p:spPr>
          <a:xfrm>
            <a:off x="1268719" y="6202082"/>
            <a:ext cx="4729735" cy="276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8-neighbor motion</a:t>
            </a:r>
          </a:p>
          <a:p>
            <a:pPr>
              <a:defRPr sz="3600"/>
            </a:pPr>
            <a:r>
              <a:t>Euclidean heuristic</a:t>
            </a:r>
          </a:p>
          <a:p>
            <a:pPr>
              <a:defRPr sz="3600"/>
            </a:pPr>
            <a:r>
              <a:t>Inflated obstacle mask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Final dense pat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Final dense path</a:t>
            </a:r>
          </a:p>
        </p:txBody>
      </p:sp>
      <p:sp>
        <p:nvSpPr>
          <p:cNvPr id="240" name="Backtrack from goal to start through the A* parent link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Backtrack from goal to start through the A* parent links</a:t>
            </a:r>
          </a:p>
        </p:txBody>
      </p:sp>
      <p:sp>
        <p:nvSpPr>
          <p:cNvPr id="2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42" name="112_dense_path.png" descr="112_dense_path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Goal reached:…"/>
          <p:cNvSpPr txBox="1"/>
          <p:nvPr/>
        </p:nvSpPr>
        <p:spPr>
          <a:xfrm>
            <a:off x="1265633" y="5823612"/>
            <a:ext cx="5449533" cy="352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/>
            </a:pPr>
            <a:r>
              <a:t>Goal reached:</a:t>
            </a:r>
          </a:p>
          <a:p>
            <a:pPr marL="609600" indent="-457200">
              <a:spcBef>
                <a:spcPts val="2400"/>
              </a:spcBef>
              <a:buSzPct val="123000"/>
              <a:buChar char="•"/>
              <a:defRPr sz="3600"/>
            </a:pPr>
            <a:r>
              <a:t>Follow parent cells backward</a:t>
            </a:r>
          </a:p>
          <a:p>
            <a:pPr marL="609600" indent="-457200">
              <a:spcBef>
                <a:spcPts val="2400"/>
              </a:spcBef>
              <a:buSzPct val="123000"/>
              <a:buChar char="•"/>
              <a:defRPr sz="3600"/>
            </a:pPr>
            <a:r>
              <a:t>Reverse order</a:t>
            </a:r>
          </a:p>
          <a:p>
            <a:pPr marL="609600" indent="-457200">
              <a:spcBef>
                <a:spcPts val="2400"/>
              </a:spcBef>
              <a:buSzPct val="123000"/>
              <a:buChar char="•"/>
              <a:defRPr sz="3600"/>
            </a:pPr>
            <a:r>
              <a:t>Dense grid path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implified waypoi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Simplified waypoints</a:t>
            </a:r>
          </a:p>
        </p:txBody>
      </p:sp>
      <p:sp>
        <p:nvSpPr>
          <p:cNvPr id="248" name="Grid path is simplified into executable waypoint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Grid path is simplified into executable waypoints</a:t>
            </a:r>
          </a:p>
        </p:txBody>
      </p:sp>
      <p:sp>
        <p:nvSpPr>
          <p:cNvPr id="2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50" name="113_simplified_waypoints.png" descr="113_simplified_waypoint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Dense path: 21 cells…"/>
          <p:cNvSpPr txBox="1"/>
          <p:nvPr/>
        </p:nvSpPr>
        <p:spPr>
          <a:xfrm>
            <a:off x="1268719" y="5669947"/>
            <a:ext cx="5241799" cy="3827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Dense path: 21 cells</a:t>
            </a:r>
          </a:p>
          <a:p>
            <a:pPr>
              <a:defRPr sz="3600"/>
            </a:pPr>
            <a:r>
              <a:t>Simplified waypoints: 4</a:t>
            </a:r>
          </a:p>
          <a:p>
            <a:pPr>
              <a:defRPr sz="3600"/>
            </a:pPr>
            <a:r>
              <a:t>Path length: ~1.124 m</a:t>
            </a:r>
          </a:p>
          <a:p>
            <a:pPr>
              <a:defRPr sz="3600"/>
            </a:pPr>
            <a:r>
              <a:t>linear_speed_mps = 0.03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Block B: Obstacle dete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Block B: Obstacle detection</a:t>
            </a:r>
          </a:p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ustom waypoint follow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Custom waypoint follower</a:t>
            </a:r>
          </a:p>
        </p:txBody>
      </p:sp>
      <p:sp>
        <p:nvSpPr>
          <p:cNvPr id="259" name="A* waypoints are converted into /cmd_vel command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A* waypoints are converted into /cmd_vel commands</a:t>
            </a:r>
          </a:p>
        </p:txBody>
      </p:sp>
      <p:sp>
        <p:nvSpPr>
          <p:cNvPr id="2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61" name="001_planned_route_robot.png" descr="001_planned_route_robo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waypoints.csv:…"/>
          <p:cNvSpPr txBox="1"/>
          <p:nvPr/>
        </p:nvSpPr>
        <p:spPr>
          <a:xfrm>
            <a:off x="1265633" y="5976012"/>
            <a:ext cx="5139233" cy="3215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waypoints.csv: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Curr. target waypoint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Dist. + heading error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Bound lin./ang. vel.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/cmd_vel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aw LiDAR scan poi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Raw LiDAR scan points</a:t>
            </a:r>
          </a:p>
        </p:txBody>
      </p:sp>
      <p:sp>
        <p:nvSpPr>
          <p:cNvPr id="267" name="Robot receives raw /scan returns during motio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Robot receives raw /scan returns during motion</a:t>
            </a:r>
          </a:p>
        </p:txBody>
      </p:sp>
      <p:sp>
        <p:nvSpPr>
          <p:cNvPr id="2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69" name="002_raw_lidar_scan_points.png" descr="002_raw_lidar_scan_point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/scan → base frame"/>
          <p:cNvSpPr txBox="1"/>
          <p:nvPr/>
        </p:nvSpPr>
        <p:spPr>
          <a:xfrm>
            <a:off x="1253540" y="5463835"/>
            <a:ext cx="4302774" cy="4239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/scan → base frame</a:t>
            </a:r>
          </a:p>
          <a:p>
            <a:pPr>
              <a:defRPr sz="3600"/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e>
                    <m:sub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</m:e>
                    <m:sub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inc</m:t>
                      </m:r>
                    </m:sub>
                  </m:sSub>
                </m:oMath>
              </m:oMathPara>
            </a14:m>
          </a:p>
          <a:p>
            <a:pPr>
              <a:defRPr sz="36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≈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e>
                    <m:sub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r>
                    <m:rPr>
                      <m:sty m:val="p"/>
                    </m:rP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e>
                    <m:sub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  <a:p>
            <a:pPr>
              <a:defRPr sz="36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≈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e>
                    <m:sub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r>
                    <m:rPr>
                      <m:sty m:val="p"/>
                    </m:rP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e>
                    <m:sub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Filter points through forward RO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Filter points through forward ROI</a:t>
            </a:r>
          </a:p>
        </p:txBody>
      </p:sp>
      <p:sp>
        <p:nvSpPr>
          <p:cNvPr id="275" name="Only relevant points in front of the robot are considere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Only relevant points in front of the robot are considered</a:t>
            </a:r>
          </a:p>
        </p:txBody>
      </p:sp>
      <p:sp>
        <p:nvSpPr>
          <p:cNvPr id="2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77" name="003_forward_obstacle_roi.png" descr="003_forward_obstacle_roi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Keep point if:"/>
          <p:cNvSpPr txBox="1"/>
          <p:nvPr/>
        </p:nvSpPr>
        <p:spPr>
          <a:xfrm>
            <a:off x="1265633" y="5897526"/>
            <a:ext cx="4308657" cy="3372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Keep point if:</a:t>
            </a:r>
          </a:p>
          <a:p>
            <a:pPr indent="304800">
              <a:spcBef>
                <a:spcPts val="2400"/>
              </a:spcBef>
              <a:defRPr sz="36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r>
                    <m:rPr>
                      <m:nor/>
                    </m:rP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forw. dist.</m:t>
                  </m:r>
                </m:oMath>
              </m:oMathPara>
            </a14:m>
          </a:p>
          <a:p>
            <a:pPr indent="304800">
              <a:spcBef>
                <a:spcPts val="2400"/>
              </a:spcBef>
              <a:defRPr sz="36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r>
                    <m:rPr>
                      <m:nor/>
                    </m:rP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half_width</m:t>
                  </m:r>
                </m:oMath>
              </m:oMathPara>
            </a14:m>
          </a:p>
          <a:p>
            <a:pPr indent="304800">
              <a:spcBef>
                <a:spcPts val="2400"/>
              </a:spcBef>
              <a:defRPr sz="36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∠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window</m:t>
                      </m:r>
                    </m:sub>
                  </m:sSub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Accept only new free-space obstacl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Accept only new free-space obstacles</a:t>
            </a:r>
          </a:p>
        </p:txBody>
      </p:sp>
      <p:sp>
        <p:nvSpPr>
          <p:cNvPr id="283" name="ROI points are checked against the saved occupancy map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ROI points are checked against the saved occupancy map</a:t>
            </a:r>
          </a:p>
        </p:txBody>
      </p:sp>
      <p:sp>
        <p:nvSpPr>
          <p:cNvPr id="2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85" name="004_accepted_rejected_cells.png" descr="004_accepted_rejected_cell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Base point → map cell…"/>
          <p:cNvSpPr txBox="1"/>
          <p:nvPr/>
        </p:nvSpPr>
        <p:spPr>
          <a:xfrm>
            <a:off x="1265633" y="4488987"/>
            <a:ext cx="5323856" cy="6189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/>
            </a:pPr>
            <a:r>
              <a:t>Base point → map cell</a:t>
            </a:r>
          </a:p>
          <a:p>
            <a:pPr>
              <a:defRPr sz="3600"/>
            </a:pPr>
            <a:r>
              <a:t>Accept if: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Cell is inside map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Cell is free in saved map</a:t>
            </a:r>
          </a:p>
          <a:p>
            <a:pPr>
              <a:defRPr sz="3600"/>
            </a:pPr>
            <a:r>
              <a:t>Reject if:</a:t>
            </a:r>
          </a:p>
          <a:p>
            <a:pPr marL="762000" indent="-457200">
              <a:spcBef>
                <a:spcPts val="1200"/>
              </a:spcBef>
              <a:buSzPct val="123000"/>
              <a:buChar char="•"/>
              <a:defRPr sz="3600"/>
            </a:pPr>
            <a:r>
              <a:t>Cell is static wall / unknown / outside 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mporary local obstacle overla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Temporary local obstacle overlay</a:t>
            </a:r>
          </a:p>
        </p:txBody>
      </p:sp>
      <p:sp>
        <p:nvSpPr>
          <p:cNvPr id="291" name="Accepted cells are added only to the run-local planning map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Accepted cells are added only to the run-local planning map</a:t>
            </a:r>
          </a:p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93" name="005_run_local_obstacle_overlay.png" descr="005_run_local_obstacle_overla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= planning map…"/>
          <p:cNvSpPr txBox="1"/>
          <p:nvPr/>
        </p:nvSpPr>
        <p:spPr>
          <a:xfrm>
            <a:off x="1275342" y="4118767"/>
            <a:ext cx="4738941" cy="294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/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temp.</m:t>
                      </m:r>
                    </m:sub>
                  </m:sSub>
                </m:oMath>
              </m:oMathPara>
            </a14:m>
          </a:p>
          <a:p>
            <a:pPr>
              <a:spcBef>
                <a:spcPts val="3600"/>
              </a:spcBef>
              <a:defRPr sz="2400"/>
            </a:pPr>
            <a14:m>
              <m:oMath>
                <m:sSub>
                  <m:e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</m:oMath>
            </a14:m>
            <a:r>
              <a:t> = planning map</a:t>
            </a:r>
          </a:p>
          <a:p>
            <a:pPr>
              <a:spcBef>
                <a:spcPts val="1200"/>
              </a:spcBef>
              <a:defRPr sz="2400"/>
            </a:pPr>
            <a14:m>
              <m:oMath>
                <m:sSub>
                  <m:e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</m:oMath>
            </a14:m>
            <a:r>
              <a:t> = saved map</a:t>
            </a:r>
          </a:p>
          <a:p>
            <a:pPr>
              <a:spcBef>
                <a:spcPts val="1200"/>
              </a:spcBef>
              <a:defRPr sz="2400"/>
            </a:pPr>
            <a14:m>
              <m:oMath>
                <m:sSub>
                  <m:e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temp</m:t>
                    </m:r>
                  </m:sub>
                </m:sSub>
              </m:oMath>
            </a14:m>
            <a:r>
              <a:t> = temporary overlay</a:t>
            </a:r>
          </a:p>
        </p:txBody>
      </p:sp>
      <p:sp>
        <p:nvSpPr>
          <p:cNvPr id="295" name=": unchanged…"/>
          <p:cNvSpPr txBox="1"/>
          <p:nvPr/>
        </p:nvSpPr>
        <p:spPr>
          <a:xfrm>
            <a:off x="1275342" y="7800266"/>
            <a:ext cx="4866043" cy="3208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6000"/>
              </a:spcBef>
              <a:defRPr sz="3600"/>
            </a:pPr>
            <a14:m>
              <m:oMath>
                <m:sSub>
                  <m:e>
                    <m:r>
                      <a:rPr xmlns:a="http://schemas.openxmlformats.org/drawingml/2006/main" sz="4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4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</m:oMath>
            </a14:m>
            <a:r>
              <a:t> : unchanged</a:t>
            </a:r>
          </a:p>
          <a:p>
            <a:pPr>
              <a:defRPr sz="3600"/>
            </a:pPr>
            <a14:m>
              <m:oMath>
                <m:sSub>
                  <m:e>
                    <m:r>
                      <a:rPr xmlns:a="http://schemas.openxmlformats.org/drawingml/2006/main" sz="4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4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temp.</m:t>
                    </m:r>
                  </m:sub>
                </m:sSub>
              </m:oMath>
            </a14:m>
            <a:r>
              <a:t> : obstacle cells</a:t>
            </a:r>
          </a:p>
          <a:p>
            <a:pPr>
              <a:defRPr sz="3600"/>
            </a:pPr>
            <a:r>
              <a:t>Inflation: clearance </a:t>
            </a:r>
            <a14:m>
              <m:oMath>
                <m:r>
                  <a:rPr xmlns:a="http://schemas.openxmlformats.org/drawingml/2006/main" sz="4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r</m:t>
                </m:r>
              </m:oMath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Old path block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Old path blocked</a:t>
            </a:r>
          </a:p>
        </p:txBody>
      </p:sp>
      <p:sp>
        <p:nvSpPr>
          <p:cNvPr id="300" name="The previous route is invalid once obstacle clearance is adde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The previous route is invalid once obstacle clearance is added</a:t>
            </a:r>
          </a:p>
        </p:txBody>
      </p:sp>
      <p:sp>
        <p:nvSpPr>
          <p:cNvPr id="3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02" name="006_old_path_blocked.png" descr="006_old_path_blocked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303" name=":…"/>
          <p:cNvSpPr txBox="1"/>
          <p:nvPr/>
        </p:nvSpPr>
        <p:spPr>
          <a:xfrm>
            <a:off x="1265633" y="4691888"/>
            <a:ext cx="4534358" cy="2486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14:m>
              <m:oMath>
                <m:sSub>
                  <m:e>
                    <m:r>
                      <a:rPr xmlns:a="http://schemas.openxmlformats.org/drawingml/2006/main" sz="4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4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old</m:t>
                    </m:r>
                  </m:sub>
                </m:sSub>
                <m:r>
                  <a:rPr xmlns:a="http://schemas.openxmlformats.org/drawingml/2006/main" sz="4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sSub>
                  <m:e>
                    <m:r>
                      <a:rPr xmlns:a="http://schemas.openxmlformats.org/drawingml/2006/main" sz="4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4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infl.</m:t>
                    </m:r>
                  </m:sub>
                </m:sSub>
                <m:r>
                  <a:rPr xmlns:a="http://schemas.openxmlformats.org/drawingml/2006/main" sz="4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m:rPr>
                    <m:sty m:val="p"/>
                  </m:rPr>
                  <a:rPr xmlns:a="http://schemas.openxmlformats.org/drawingml/2006/main" sz="4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∅</m:t>
                </m:r>
              </m:oMath>
            </a14:m>
            <a:r>
              <a:t>:</a:t>
            </a:r>
          </a:p>
          <a:p>
            <a:pPr marL="762000" indent="-457200">
              <a:spcBef>
                <a:spcPts val="3400"/>
              </a:spcBef>
              <a:buSzPct val="123000"/>
              <a:buChar char="•"/>
              <a:defRPr sz="3600"/>
            </a:pPr>
            <a:r>
              <a:t>Stop following</a:t>
            </a:r>
          </a:p>
          <a:p>
            <a:pPr marL="762000" indent="-457200">
              <a:spcBef>
                <a:spcPts val="2400"/>
              </a:spcBef>
              <a:buSzPct val="123000"/>
              <a:buChar char="•"/>
              <a:defRPr sz="3600"/>
            </a:pPr>
            <a:r>
              <a:t>Trigger replanning</a:t>
            </a:r>
          </a:p>
        </p:txBody>
      </p:sp>
      <p:sp>
        <p:nvSpPr>
          <p:cNvPr id="304" name=": old path…"/>
          <p:cNvSpPr txBox="1"/>
          <p:nvPr/>
        </p:nvSpPr>
        <p:spPr>
          <a:xfrm>
            <a:off x="1268674" y="8695387"/>
            <a:ext cx="3174230" cy="1268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2400"/>
              </a:spcBef>
              <a:defRPr sz="2400"/>
            </a:pPr>
            <a14:m>
              <m:oMath>
                <m:sSub>
                  <m:e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old</m:t>
                    </m:r>
                  </m:sub>
                </m:sSub>
              </m:oMath>
            </a14:m>
            <a:r>
              <a:t> : old path</a:t>
            </a:r>
          </a:p>
          <a:p>
            <a:pPr>
              <a:spcBef>
                <a:spcPts val="2400"/>
              </a:spcBef>
              <a:defRPr sz="2400"/>
            </a:pPr>
            <a14:m>
              <m:oMath>
                <m:sSub>
                  <m:e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infl.</m:t>
                    </m:r>
                  </m:sub>
                </m:sSub>
              </m:oMath>
            </a14:m>
            <a:r>
              <a:t> : inflated overlay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planned pat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Replanned path</a:t>
            </a:r>
          </a:p>
        </p:txBody>
      </p:sp>
      <p:sp>
        <p:nvSpPr>
          <p:cNvPr id="309" name="A* is rerun on the temporary planning map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A* is rerun on the temporary planning map</a:t>
            </a:r>
          </a:p>
        </p:txBody>
      </p:sp>
      <p:sp>
        <p:nvSpPr>
          <p:cNvPr id="3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11" name="007_replanned_path.png" descr="007_replanned_path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Start = current pose…"/>
          <p:cNvSpPr txBox="1"/>
          <p:nvPr/>
        </p:nvSpPr>
        <p:spPr>
          <a:xfrm>
            <a:off x="1265633" y="4721738"/>
            <a:ext cx="4199383" cy="1584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3600"/>
              </a:spcBef>
              <a:defRPr sz="3600"/>
            </a:pPr>
            <a:r>
              <a:t>Start = current pose</a:t>
            </a:r>
          </a:p>
          <a:p>
            <a:pPr>
              <a:spcBef>
                <a:spcPts val="3600"/>
              </a:spcBef>
              <a:defRPr sz="3600"/>
            </a:pPr>
            <a:r>
              <a:t>Goal = original goal</a:t>
            </a:r>
          </a:p>
        </p:txBody>
      </p:sp>
      <p:sp>
        <p:nvSpPr>
          <p:cNvPr id="313" name="New path…"/>
          <p:cNvSpPr txBox="1"/>
          <p:nvPr/>
        </p:nvSpPr>
        <p:spPr>
          <a:xfrm>
            <a:off x="1297560" y="7225381"/>
            <a:ext cx="4135528" cy="3233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3600"/>
              </a:spcBef>
              <a:defRPr sz="3600"/>
            </a:pPr>
            <a14:m>
              <m:oMathPara>
                <m:oMathParaPr>
                  <m:jc m:val="left"/>
                </m:oMathParaPr>
                <m:oMath>
                  <m:sSup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p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*</m:t>
                      </m:r>
                    </m:sup>
                  </m:sSup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temp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  <a:p>
            <a:pPr marL="609600" indent="-457200">
              <a:spcBef>
                <a:spcPts val="2400"/>
              </a:spcBef>
              <a:buSzPct val="123000"/>
              <a:buChar char="•"/>
              <a:defRPr sz="3600"/>
            </a:pPr>
            <a:r>
              <a:t>New path</a:t>
            </a:r>
          </a:p>
          <a:p>
            <a:pPr marL="609600" indent="-457200">
              <a:spcBef>
                <a:spcPts val="2400"/>
              </a:spcBef>
              <a:buSzPct val="123000"/>
              <a:buChar char="•"/>
              <a:defRPr sz="3600"/>
            </a:pPr>
            <a:r>
              <a:t>New waypoints</a:t>
            </a:r>
          </a:p>
          <a:p>
            <a:pPr marL="609600" indent="-457200">
              <a:spcBef>
                <a:spcPts val="2400"/>
              </a:spcBef>
              <a:buSzPct val="123000"/>
              <a:buChar char="•"/>
              <a:defRPr sz="3600"/>
            </a:pPr>
            <a:r>
              <a:t>Resume follower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Validation: temporary obstacle avoid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Validation: temporary obstacle avoided</a:t>
            </a:r>
          </a:p>
        </p:txBody>
      </p:sp>
      <p:sp>
        <p:nvSpPr>
          <p:cNvPr id="318" name="Final route avoids the inflated obstacle overlay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Final route avoids the inflated obstacle overlay</a:t>
            </a:r>
          </a:p>
        </p:txBody>
      </p:sp>
      <p:sp>
        <p:nvSpPr>
          <p:cNvPr id="3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20" name="008_validation_frame.png" descr="008_validation_fram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8755" y="3380102"/>
            <a:ext cx="14946490" cy="8407401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Text"/>
          <p:cNvSpPr txBox="1"/>
          <p:nvPr/>
        </p:nvSpPr>
        <p:spPr>
          <a:xfrm>
            <a:off x="1265633" y="5226282"/>
            <a:ext cx="4110207" cy="1971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old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infl.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≠</m:t>
                  </m:r>
                  <m:r>
                    <m:rPr>
                      <m:sty m:val="p"/>
                    </m:rP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∅</m:t>
                  </m:r>
                </m:oMath>
              </m:oMathPara>
            </a14:m>
          </a:p>
          <a:p>
            <a:pPr>
              <a:defRPr sz="3600"/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new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sSub>
                    <m:e>
                      <m: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4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infl.</m:t>
                      </m:r>
                    </m:sub>
                  </m:sSub>
                  <m: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4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∅</m:t>
                  </m:r>
                </m:oMath>
              </m:oMathPara>
            </a14:m>
          </a:p>
        </p:txBody>
      </p:sp>
      <p:sp>
        <p:nvSpPr>
          <p:cNvPr id="322" name=": old path…"/>
          <p:cNvSpPr txBox="1"/>
          <p:nvPr/>
        </p:nvSpPr>
        <p:spPr>
          <a:xfrm>
            <a:off x="1265633" y="8340124"/>
            <a:ext cx="2416471" cy="127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2400"/>
              </a:spcBef>
              <a:defRPr sz="2400"/>
            </a:pPr>
            <a14:m>
              <m:oMath>
                <m:sSub>
                  <m:e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old</m:t>
                    </m:r>
                  </m:sub>
                </m:sSub>
              </m:oMath>
            </a14:m>
            <a:r>
              <a:t> : old path</a:t>
            </a:r>
          </a:p>
          <a:p>
            <a:pPr>
              <a:spcBef>
                <a:spcPts val="2400"/>
              </a:spcBef>
              <a:defRPr sz="2400"/>
            </a:pPr>
            <a14:m>
              <m:oMath>
                <m:sSub>
                  <m:e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new</m:t>
                    </m:r>
                  </m:sub>
                </m:sSub>
              </m:oMath>
            </a14:m>
            <a:r>
              <a:t> : new path</a:t>
            </a:r>
          </a:p>
        </p:txBody>
      </p:sp>
      <p:sp>
        <p:nvSpPr>
          <p:cNvPr id="323" name="blocked old path cells: 6…"/>
          <p:cNvSpPr txBox="1"/>
          <p:nvPr/>
        </p:nvSpPr>
        <p:spPr>
          <a:xfrm>
            <a:off x="18198966" y="8196923"/>
            <a:ext cx="5296663" cy="276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blocked old path cells: 6</a:t>
            </a:r>
          </a:p>
          <a:p>
            <a:pPr>
              <a:defRPr sz="3600"/>
            </a:pPr>
            <a:r>
              <a:t>inflated obstacle cells: 47</a:t>
            </a:r>
          </a:p>
          <a:p>
            <a:pPr>
              <a:defRPr sz="3600"/>
            </a:pPr>
            <a:r>
              <a:t>new waypoints: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Concl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3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oncl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331" name="What I learned from this task shee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I learned from this task sheet</a:t>
            </a:r>
          </a:p>
        </p:txBody>
      </p:sp>
      <p:sp>
        <p:nvSpPr>
          <p:cNvPr id="332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hank you!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you!</a:t>
            </a:r>
          </a:p>
        </p:txBody>
      </p:sp>
      <p:sp>
        <p:nvSpPr>
          <p:cNvPr id="3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