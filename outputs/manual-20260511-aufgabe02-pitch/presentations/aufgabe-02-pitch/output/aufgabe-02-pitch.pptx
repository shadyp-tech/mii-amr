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0e177a6ae841de" /><Relationship Type="http://schemas.openxmlformats.org/officeDocument/2006/relationships/extended-properties" Target="/docProps/app.xml" Id="R2b06eeb532fc4eab" /><Relationship Type="http://schemas.openxmlformats.org/officeDocument/2006/relationships/officeDocument" Target="/ppt/presentation.xml" Id="R01a72143003c4e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2efc864c7442d9"/>
  </p:sldMasterIdLst>
  <p:notesMasterIdLst>
    <p:notesMasterId xmlns:r="http://schemas.openxmlformats.org/officeDocument/2006/relationships" r:id="Red3c2e1377b24cec"/>
  </p:notesMasterIdLst>
  <p:sldIdLst>
    <p:sldId xmlns:r="http://schemas.openxmlformats.org/officeDocument/2006/relationships" id="256" r:id="R9993eccb59ca4a18"/>
    <p:sldId xmlns:r="http://schemas.openxmlformats.org/officeDocument/2006/relationships" id="257" r:id="R40cc9ecfe6fc43c7"/>
    <p:sldId xmlns:r="http://schemas.openxmlformats.org/officeDocument/2006/relationships" id="258" r:id="R3e4caa7fea6646b3"/>
    <p:sldId xmlns:r="http://schemas.openxmlformats.org/officeDocument/2006/relationships" id="259" r:id="R19d85c779f68437d"/>
    <p:sldId xmlns:r="http://schemas.openxmlformats.org/officeDocument/2006/relationships" id="260" r:id="Ra9e8c108c62f4827"/>
    <p:sldId xmlns:r="http://schemas.openxmlformats.org/officeDocument/2006/relationships" id="261" r:id="R117b5f51d312420c"/>
    <p:sldId xmlns:r="http://schemas.openxmlformats.org/officeDocument/2006/relationships" id="262" r:id="Rff50be3f4dd44f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efc864c7442d9" /><Relationship Type="http://schemas.openxmlformats.org/officeDocument/2006/relationships/theme" Target="/ppt/theme/theme1.xml" Id="R9b63147c6d214486" /><Relationship Type="http://schemas.openxmlformats.org/officeDocument/2006/relationships/notesMaster" Target="/ppt/notesMasters/notesMaster1.xml" Id="Red3c2e1377b24cec" /><Relationship Type="http://schemas.openxmlformats.org/officeDocument/2006/relationships/presProps" Target="/ppt/presProps.xml" Id="R6271bd7d60b14844" /><Relationship Type="http://schemas.openxmlformats.org/officeDocument/2006/relationships/viewProps" Target="/ppt/viewProps.xml" Id="R9d4f35d3c3eb4557" /><Relationship Type="http://schemas.openxmlformats.org/officeDocument/2006/relationships/tableStyles" Target="/ppt/tableStyles.xml" Id="Rb52ccd4812534d57" /><Relationship Type="http://schemas.openxmlformats.org/officeDocument/2006/relationships/slide" Target="/ppt/slides/slide1.xml" Id="R9993eccb59ca4a18" /><Relationship Type="http://schemas.openxmlformats.org/officeDocument/2006/relationships/slide" Target="/ppt/slides/slide2.xml" Id="R40cc9ecfe6fc43c7" /><Relationship Type="http://schemas.openxmlformats.org/officeDocument/2006/relationships/slide" Target="/ppt/slides/slide3.xml" Id="R3e4caa7fea6646b3" /><Relationship Type="http://schemas.openxmlformats.org/officeDocument/2006/relationships/slide" Target="/ppt/slides/slide4.xml" Id="R19d85c779f68437d" /><Relationship Type="http://schemas.openxmlformats.org/officeDocument/2006/relationships/slide" Target="/ppt/slides/slide5.xml" Id="Ra9e8c108c62f4827" /><Relationship Type="http://schemas.openxmlformats.org/officeDocument/2006/relationships/slide" Target="/ppt/slides/slide6.xml" Id="R117b5f51d312420c" /><Relationship Type="http://schemas.openxmlformats.org/officeDocument/2006/relationships/slide" Target="/ppt/slides/slide7.xml" Id="Rff50be3f4dd44f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2761e84917c47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0a80b09e5640af" /><Relationship Type="http://schemas.openxmlformats.org/officeDocument/2006/relationships/notesMaster" Target="/ppt/notesMasters/notesMaster1.xml" Id="Rb568690787774b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8793628ce46a8" /><Relationship Type="http://schemas.openxmlformats.org/officeDocument/2006/relationships/notesMaster" Target="/ppt/notesMasters/notesMaster1.xml" Id="R4e16dcf6b40e48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8237bd772479b" /><Relationship Type="http://schemas.openxmlformats.org/officeDocument/2006/relationships/notesMaster" Target="/ppt/notesMasters/notesMaster1.xml" Id="Rb111fb105e904f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3b11e91cb848e4" /><Relationship Type="http://schemas.openxmlformats.org/officeDocument/2006/relationships/notesMaster" Target="/ppt/notesMasters/notesMaster1.xml" Id="Rc571fec9cf914f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79009f9df45ae" /><Relationship Type="http://schemas.openxmlformats.org/officeDocument/2006/relationships/notesMaster" Target="/ppt/notesMasters/notesMaster1.xml" Id="R25e991d885ae41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4d5836f6914adf" /><Relationship Type="http://schemas.openxmlformats.org/officeDocument/2006/relationships/notesMaster" Target="/ppt/notesMasters/notesMaster1.xml" Id="R51b89fda6dfa4f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db413a65324d7f" /><Relationship Type="http://schemas.openxmlformats.org/officeDocument/2006/relationships/notesMaster" Target="/ppt/notesMasters/notesMaster1.xml" Id="R2157cfdf7c444d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0a850ba7b457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5339ad99f4412e" /><Relationship Type="http://schemas.openxmlformats.org/officeDocument/2006/relationships/slideLayout" Target="/ppt/slideLayouts/slideLayout2.xml" Id="R370f0a662dda4f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f0a662dda4f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41f86d03df426e" /><Relationship Type="http://schemas.openxmlformats.org/officeDocument/2006/relationships/notesSlide" Target="/ppt/notesSlides/notesSlide1.xml" Id="R58bf7b846c1e49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969666b5574f24" /><Relationship Type="http://schemas.openxmlformats.org/officeDocument/2006/relationships/notesSlide" Target="/ppt/notesSlides/notesSlide2.xml" Id="Rb3d765c7011f4e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27e0f023c64273" /><Relationship Type="http://schemas.openxmlformats.org/officeDocument/2006/relationships/notesSlide" Target="/ppt/notesSlides/notesSlide3.xml" Id="Rc00aa8b3812d46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13e6e7df9d465e" /><Relationship Type="http://schemas.openxmlformats.org/officeDocument/2006/relationships/notesSlide" Target="/ppt/notesSlides/notesSlide4.xml" Id="Rcaf16bee87654d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b7ae6b67c4a26" /><Relationship Type="http://schemas.openxmlformats.org/officeDocument/2006/relationships/notesSlide" Target="/ppt/notesSlides/notesSlide5.xml" Id="Ra2da2b38152141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f8e5bb9a3546d0" /><Relationship Type="http://schemas.openxmlformats.org/officeDocument/2006/relationships/image" Target="/ppt/media/image.png" Id="Re57762dcb07847e0" /><Relationship Type="http://schemas.openxmlformats.org/officeDocument/2006/relationships/notesSlide" Target="/ppt/notesSlides/notesSlide6.xml" Id="Rb58b873a5ec443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e0e1cc50bf4342" /><Relationship Type="http://schemas.openxmlformats.org/officeDocument/2006/relationships/notesSlide" Target="/ppt/notesSlides/notesSlide7.xml" Id="Ra2b412f4e45b4f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B9661-D21E-4F26-A343-CC37AEC4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D316590-918F-4D6E-9DE3-9A63BF75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20CFFA-5CD4-4E0A-9600-52F45CD6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PITCH SPINE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F965D-3E32-40D9-9643-6A8F63B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69245-C91E-421B-A9B0-2E8CC603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11840-7EC1-4041-A634-349B65E2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191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assignment became a measurement problem before it became a modeling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9A823-813A-45B2-9248-E22749DB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5-10 minute pitch: the concrete problems, the decisions I made, and why those decisions were defensible.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D51AB-E4A4-4101-837C-1FE31DD3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7FC05-3F19-48EF-BE15-5A63FAEC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19386-3AF5-4B0B-BB1D-F4A7B5B2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task asks for real final pose, but the robot does not give a clean absolute endpoint alone.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AFED2-0EF0-4D4B-A19D-FFC29AE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52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65B78-492E-4908-A65D-E90DED0F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31A7F-7412-49FB-889B-83FC884B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 an external camera tracker and gate each run against a repeatable start.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B3712-B668-404A-B6C3-DB76237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52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1C7B5-1B20-4FBE-A910-65752A89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0A152-BEEC-43F2-A223-821F999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simple probabilistic model works for primitives; the composed route exposes the limits.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5DE92-2230-4C9A-BE22-C10DC273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rPr>
              <a:t>Sources: docs/tasks/Aufgabe_02.pdf; scripts/; vision_tracker/; results/</a:t>
            </a:r>
          </a:p>
        </p:txBody>
      </p:sp>
    </p:spTree>
    <p:extLst>
      <p:ext uri="{BB962C8B-B14F-4D97-AF65-F5344CB8AC3E}">
        <p14:creationId xmlns:p14="http://schemas.microsoft.com/office/powerpoint/2010/main" val="10212280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DF7D55-9733-49A3-B9A4-1513FA5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F59D4F-BB6C-4794-92C2-3DB127F3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5DD6DB-76FC-4F4C-A9A0-4DF84609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 1: MEASURING 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8785C-28FA-4EEB-A7DD-8BA1B131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DE895-2D35-43B1-A30C-BD750EFD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AF306-2AE8-44DB-B793-CB89A584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 could not treat odometry as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B6F40-AD9E-4686-975A-D4D07A3A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The task needed final position in the physical experiment, so I needed an external reference frame.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434A6-395A-4A0A-A578-D61556F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AAB15-E4C8-4262-AE44-8FA1C8B0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6D608-0B84-4255-AA39-9A208E70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an overhead camera, three green markers, and a homography to write the latest absolute tracker pose.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A2BD6-D865-4309-AFDC-37DC0D4A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65CFD-FB71-48E2-80BA-A1E7F7A7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F2780-7EAA-427B-8CD7-A69E869D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It made simulation endpoints, real endpoints, and repeated-run statistics comparable in meters.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E737E-3DDD-49DF-99E0-3CEB74CE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06CD9-ED43-467B-8967-4C9E3BE8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0450"/>
            <a:ext cx="1123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camera frame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1AD63-FCC6-4061-8766-8E1FB491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76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2EBEB-9543-48A3-A210-DB1B004F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F43DA-35F2-4BA1-B68C-7A701191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8615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AA40C-8FCF-4338-AB77-9D397245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1638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HSV green marker detection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6B88D-6157-499F-A50C-C29C8507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76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C4DA6-CF5B-4D64-BB92-1EE8F19F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C31E6-CEC6-4117-9F47-FAEC7003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86150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7BD345-5549-469E-8E36-0110221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0045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pixel -&gt; world homography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9B089-8582-4A93-89E9-C44BBF38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6"/>
          </a:solidFill>
          <a:ln xmlns:a="http://schemas.openxmlformats.org/drawingml/2006/main" w="11430">
            <a:solidFill>
              <a:srgbClr val="D7D3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F80A7-AD68-4FFB-9E8F-9269CC68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768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classify 3 markers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EDFDF-DE47-4B94-821E-1B1A726F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244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2D1CF-6651-4A7A-97D0-DA60ACF5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76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22DB5B-E3EC-4FFC-8A50-3096236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6"/>
          </a:solidFill>
          <a:ln xmlns:a="http://schemas.openxmlformats.org/drawingml/2006/main" w="11430">
            <a:solidFill>
              <a:srgbClr val="D7D3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41D347-581C-4A07-A929-D845340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768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estimate x, y, yaw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2FC964-73AD-4EF9-B701-5918C44E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244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7BEDB4-A0ED-45F1-A825-1D57FA19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5076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4BBE5B-7F07-482C-BF38-D5DA619B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62500"/>
            <a:ext cx="1162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6"/>
          </a:solidFill>
          <a:ln xmlns:a="http://schemas.openxmlformats.org/drawingml/2006/main" w="11430">
            <a:solidFill>
              <a:srgbClr val="D7D3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3856A7-0858-4F69-B031-B4B3CC0B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7680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latest tracker pose CSV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EE86DA-BD50-47AB-AD06-0CE1D0DB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06B61"/>
                </a:solidFill>
                <a:latin typeface="Aptos"/>
                <a:ea typeface="Aptos"/>
                <a:cs typeface="Aptos"/>
              </a:rPr>
              <a:t>Key code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AD95B5-1473-4B5F-A47C-80BCDB02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06B61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706B61"/>
                </a:solidFill>
                <a:latin typeface="Aptos Mono"/>
                <a:ea typeface="Aptos Mono"/>
                <a:cs typeface="Aptos Mono"/>
              </a:rPr>
              <a:t>vision_tracker/main.py -&gt; tracker.py -&gt; calibration.py -&gt; pose_estimator.py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512DE7-FF15-42BE-A7B3-B3B8EF3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rPr>
              <a:t>/Users/stephpark/Documents/stephsWorld/mii-amr/vision_tracker/main.py; pose_estimator.write_latest_pose()</a:t>
            </a:r>
          </a:p>
        </p:txBody>
      </p:sp>
    </p:spTree>
    <p:extLst>
      <p:ext uri="{BB962C8B-B14F-4D97-AF65-F5344CB8AC3E}">
        <p14:creationId xmlns:p14="http://schemas.microsoft.com/office/powerpoint/2010/main" val="17403546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A6435-D1F7-4764-A2E9-4CE76F53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C7F508-8D27-4C0F-8EB2-53F314A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FD819FF-2775-406F-BF0B-DF63AB9C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 2: REPEATABLE STARTS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78F1F-6FD0-4F48-A1FC-2EC70F92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20EF2-0061-4ABD-AED8-F608FBE9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B314E-30CC-420A-BC1C-6B83C37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start pose became a control variable.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B8C68-ECD3-45A2-9DA9-A3694A3E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Without a gate, small manual placement differences would look like motion-model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54764-1740-446B-B822-95893121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0.04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D33A9-E694-40F4-B665-A0583724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position tolerance before a real run can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E9800-94A3-4FF5-9416-591C48F9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575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4 deg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94EEF-29E2-4EE5-93CB-3EDDD027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48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yaw tolerance before a real run can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C725A-6199-4EC1-A246-C59AD717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575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A734F-137D-45A5-A949-8C25085D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48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stable tracker pose 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3F304-D07F-4F5B-86CB-2941FD4E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575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2961E-D775-4045-8017-3BEA918E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48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markers required for a valid camera 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01DA0-8C02-4DB2-877E-EBD960B4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B726C-70C9-4E56-B790-4224616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F8AD7-5FBA-4401-8DFA-655981F9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69461-8D24-4E3D-943E-2101F227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48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FBC80-7E83-4233-B1CF-897EA212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accepted starts logged with measured dx/dy/yaw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78F13-E346-4DA5-A9E4-D0D15AAB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01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stale / invalid / missing marker poses block the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D0C8C-CC86-41EE-95C4-37C53FCB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A8340-B893-4240-BFB4-CA6CF190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22D5B-B36F-4FEA-8D9A-0449B633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42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Make the run script wait for camera-confirmed pose instead of trusting manual placement.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12AE9-3149-487E-BD40-AFE18F83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rPr>
              <a:t>vision_tracker/config.py; vision_tracker/start_pose_gate.py; results/real_start_pose_checks.csv</a:t>
            </a:r>
          </a:p>
        </p:txBody>
      </p:sp>
    </p:spTree>
    <p:extLst>
      <p:ext uri="{BB962C8B-B14F-4D97-AF65-F5344CB8AC3E}">
        <p14:creationId xmlns:p14="http://schemas.microsoft.com/office/powerpoint/2010/main" val="16509894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2CC172-D930-46CB-AEFD-6991054E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3072A95-258A-4993-A87A-7BC4B3C1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04361A-8CFB-410F-9428-E2AB513D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 3: COUPLING 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9E328-8ABC-4E4D-994A-41215267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B8BA7-5C72-4B59-9660-EC4139F4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B59E6-5A9D-4159-9E6B-73F0D448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same /cmd_vel command hid different stop logic.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5D603-FF71-4122-BD07-9C911A80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That mattered because the assignment asked for real motion coupled to perfect simulation commands.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0341B-AC7F-4488-BF9E-487DBB16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064D9-5F84-4E4F-83D8-F29C4D85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B8D5E-B616-48CB-B8BC-C27856F0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Simulation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95DA3-E9B8-4A31-94CE-CB5174CB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BDDC1-F16A-47C8-A01B-AE01460A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718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RUN_DISTANCE and RUN_SPEED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E8EE9-6580-4065-844A-49D61B12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557AC-830B-4041-8FB3-DE86E540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862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drive until odometry reaches target distance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ED0AB-4DAD-4D90-9020-8BDFAB16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21BC7-850C-4AFC-95C7-CAB69735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005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start pose, forward distance, lateral drift, yaw drift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247FF-DE89-4A62-87EC-3816135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E59CE-202D-4CBF-8678-3D44F78B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4587F-8F96-496C-87FB-5AE33AAC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765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 robot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71086-EC5A-433D-A80A-C555BFB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718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36126-32C3-43C4-A590-09AF1421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718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same command vocabulary: speed, duration, angle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FC5D4-C1E4-4C2F-BBEA-4AC63ECD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86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737D3-E195-44FC-B27D-8DF0EF45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time / primitive execution on hardware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E5A97-4D78-4406-A80C-67B4C508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005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36BA3F-3144-43B0-87E5-3588BDD9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005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external tracker start and final pose plus odometry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1D6CF0-0B92-41FA-8747-CD287DF4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BEC7E9-2401-44CE-BC72-5EBD1ACA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15856F-DB23-4C36-8460-5556E79B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962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Log both odometry and camera tracker fields, then compare endpoint displacement instead of assuming either source is perfect.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2775A2-FEE4-4617-A215-F4E08030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rPr>
              <a:t>scripts/scripted_drive.py; scripts/real_scripted_drive.py; scripts/run_real_experiment.sh</a:t>
            </a:r>
          </a:p>
        </p:txBody>
      </p:sp>
    </p:spTree>
    <p:extLst>
      <p:ext uri="{BB962C8B-B14F-4D97-AF65-F5344CB8AC3E}">
        <p14:creationId xmlns:p14="http://schemas.microsoft.com/office/powerpoint/2010/main" val="3943089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ED9A5-7C58-429A-8CBE-3E483253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3D0B8C-C804-4954-837C-2835FFE0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1BEE2E-5BBB-45C1-8ABA-D253ABB7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DECISION 4: MODEL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39828-6126-419B-9F7F-C8D948D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C2DDC-D876-4002-89F4-A2670D3A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3CF27-ACAB-4F6C-B46D-187701CD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 chose a deliberately small empirical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FB562-C7AE-4642-B74D-A1FDC57E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The task asked for a rough endpoint prediction. Tradeoff: no full trajectory, map uncertainty, or full x/y/yaw covariance.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39839-2827-4A24-9ABB-6166FFAC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D49F3-7A90-4DB2-840A-DABAE9F8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valid F30 forward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0C4B0-0794-412E-8486-4FDA9D08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0.302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A2A09-B798-4A53-830B-55DDCBF4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147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mean local forward displacement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1B6D4-6A7D-4EE5-BC93-6608F7FC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-0.002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10B0B-596C-43D2-A290-3065419A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147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mean lateral displacement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744C8-7257-4CA2-B32E-CB98C0E5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+0.32 deg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0383F-898D-4AD0-ACA6-D2E4B7B1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147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mean yaw drift after F30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95F47-EFF6-4D42-8ABC-C1A748C3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6B080-EC2F-4D61-8AF1-D7FACA4C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-85.0 deg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D2ABB-D81A-4245-9DB4-1FD40983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CW90 measured mean yaw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25044-988A-46C5-B85C-B81EC3EE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+84.6 deg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C52DF-D623-4B3A-8195-C594E06B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625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CCW90 measured mean yaw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A8495-3856-4F5A-A2E4-6F9CA591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C5118-5B2F-40ED-A538-9B1D1DF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62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Monte Carlo samples for path endpoint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6F48C-CFEA-414F-9B23-E37A7C06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rPr>
              <a:t>results/probabilistic_motion_primitives_model_summary.csv; scripts/build_motion_primitives_model.py</a:t>
            </a:r>
          </a:p>
        </p:txBody>
      </p:sp>
    </p:spTree>
    <p:extLst>
      <p:ext uri="{BB962C8B-B14F-4D97-AF65-F5344CB8AC3E}">
        <p14:creationId xmlns:p14="http://schemas.microsoft.com/office/powerpoint/2010/main" val="8508386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F3E30-E259-49E4-8E30-BB157A88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AAF7C2B-EC05-43BF-B6A5-FDF73177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858494-C49C-4C7E-BF2D-66C13C6A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 5: COMPOSED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5B27F-492E-4C33-8EEE-3532C5FE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E8102-84FA-45BA-8239-33E3C8FF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BCF26-2693-4FE7-9D87-E5499C8C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final route exposed the model limit.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762dcb07847e0"/>
          <a:stretch xmlns:a="http://schemas.openxmlformats.org/drawingml/2006/main"/>
        </p:blipFill>
        <p:spPr>
          <a:xfrm xmlns:a="http://schemas.openxmlformats.org/drawingml/2006/main">
            <a:off x="1170214" y="2247900"/>
            <a:ext cx="4898571" cy="3810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43D59-1457-4E20-BABC-39FAB4A0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908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0.149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4DF7A-D83A-464B-8CD2-D9B883EA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validation residual magnitude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D02F7-9D86-4EB0-8DC2-1EE4D040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908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False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4EF9C-99B1-4213-B1A1-B35746D8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81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inside the 95% endpoint ellipse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FD72A-55CE-4291-A082-6B89D930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-10.7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1CCEB-B96B-4D11-8F40-CAF6A04B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482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yaw residual in validation run 004, deg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512E4-1ACB-4F8D-A409-63B68236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576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0.498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51024-A998-4329-9861-A7DDF14E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6482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95% ellipse major-axis length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49C72-9D23-4390-BF2F-7D360FC0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006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FEFE1-8DC2-4F99-B7C9-D412C54E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398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Decision after seeing this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79220-A2F4-4EC8-8319-D1C14135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62600"/>
            <a:ext cx="3981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it as uncertainty evidence. The route failure motivates closed-loop localization.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8CE3C-F6BB-4FD7-B060-5C040E9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rPr>
              <a:t>results/supervisor_route_prediction_summary.csv; results/supervisor_route_validation_runs.csv</a:t>
            </a:r>
          </a:p>
        </p:txBody>
      </p:sp>
    </p:spTree>
    <p:extLst>
      <p:ext uri="{BB962C8B-B14F-4D97-AF65-F5344CB8AC3E}">
        <p14:creationId xmlns:p14="http://schemas.microsoft.com/office/powerpoint/2010/main" val="4932086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1CBE6-95EE-4C1A-8E1D-0A8EE4A5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8F03BAF-7619-43BB-A5FF-1E25F130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CE142A-977D-4E64-858D-20D26274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48F0E-B7FE-4B31-B173-DFD4F9C0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F1D93-FB18-4180-97BD-79C22BD0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0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06B61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8D669-7F47-4087-993B-BA74850B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What I would defend in the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44B00-6379-48C4-9B6C-C0352D54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B55E4-0C6D-4E65-A9D0-486C781F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1. Measurement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8AC07-05A4-4CE9-B099-1250F8BB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external camera tracker was not extra polish; it was required to answer the task with physical final positions.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E5804-445A-44F3-8514-D8A1D9DA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1F6F2-B4A7-4329-874F-F941C097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 Repeatability before statistics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65A61-34DC-4546-8363-8F19FAB1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start-pose gate made repeated runs comparable by rejecting stale, invalid, or badly placed starts.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BA3BF-A564-4C35-90F2-DE1BD23C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A9273-C253-4C51-BF8A-1A124B2A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3. The model failed in the useful 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E89C7-F653-4B09-8AA7-5E6D175B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rough endpoint model is enough to show uncertainty, but the supervisor route demonstrates why mobile robots need localization feedback such as SLAM.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60135-46F3-48DC-A53B-FEF8BF5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06B61"/>
                </a:solidFill>
                <a:latin typeface="Aptos Mono"/>
                <a:ea typeface="Aptos Mono"/>
                <a:cs typeface="Aptos Mono"/>
              </a:rPr>
              <a:t>Closing line: the work made the need for SLAM visible instead of just stating it.</a:t>
            </a:r>
          </a:p>
        </p:txBody>
      </p:sp>
    </p:spTree>
    <p:extLst>
      <p:ext uri="{BB962C8B-B14F-4D97-AF65-F5344CB8AC3E}">
        <p14:creationId xmlns:p14="http://schemas.microsoft.com/office/powerpoint/2010/main" val="1272626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2026-05-11T08:09:24.8550000Z</dcterms:created>
  <dcterms:modified xsi:type="dcterms:W3CDTF">2026-05-11T08:09:24.8550000Z</dcterms:modified>
</coreProperties>
</file>